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097280" cy="73152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731520"/>
            <a:ext cx="640080" cy="100584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1737360"/>
            <a:ext cx="822960" cy="100584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2743200"/>
            <a:ext cx="1188720" cy="36576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743200"/>
            <a:ext cx="457200" cy="118872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3108960"/>
            <a:ext cx="548640" cy="15544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3931920"/>
            <a:ext cx="914400" cy="100584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108960"/>
            <a:ext cx="731520" cy="82296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19488" y="932688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Shape 9"/>
          <p:cNvSpPr/>
          <p:nvPr/>
        </p:nvSpPr>
        <p:spPr>
          <a:xfrm>
            <a:off x="10716768" y="1664208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Shape 10"/>
          <p:cNvSpPr/>
          <p:nvPr/>
        </p:nvSpPr>
        <p:spPr>
          <a:xfrm>
            <a:off x="11356848" y="658368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Shape 11"/>
          <p:cNvSpPr/>
          <p:nvPr/>
        </p:nvSpPr>
        <p:spPr>
          <a:xfrm>
            <a:off x="9893808" y="2670048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4" name="Shape 12"/>
          <p:cNvSpPr/>
          <p:nvPr/>
        </p:nvSpPr>
        <p:spPr>
          <a:xfrm>
            <a:off x="11082528" y="3035808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5" name="Shape 13"/>
          <p:cNvSpPr/>
          <p:nvPr/>
        </p:nvSpPr>
        <p:spPr>
          <a:xfrm>
            <a:off x="10351008" y="3858768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Shape 14"/>
          <p:cNvSpPr/>
          <p:nvPr/>
        </p:nvSpPr>
        <p:spPr>
          <a:xfrm>
            <a:off x="11631168" y="4590288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7" name="Shape 15"/>
          <p:cNvSpPr/>
          <p:nvPr/>
        </p:nvSpPr>
        <p:spPr>
          <a:xfrm>
            <a:off x="9436608" y="4864608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8" name="Text 16"/>
          <p:cNvSpPr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AND ALGORITHMS – 3   |   25CS2103E   |   PBL PROJECT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1874520"/>
            <a:ext cx="87782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Course Recommendation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21792" y="379476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algorithm-driven engine that helps students search, match, and plan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courses based on interests, prerequisites, and career goals.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892040"/>
            <a:ext cx="457200" cy="36576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Text 20"/>
          <p:cNvSpPr/>
          <p:nvPr/>
        </p:nvSpPr>
        <p:spPr>
          <a:xfrm>
            <a:off x="621792" y="5029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Algorithms Applied to Personalized Academic Guidance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Box 23"/>
          <p:cNvSpPr txBox="1"/>
          <p:nvPr/>
        </p:nvSpPr>
        <p:spPr>
          <a:xfrm>
            <a:off x="591820" y="5588635"/>
            <a:ext cx="40157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2520030280 - CH NRIPENDRA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2520030164 - M DIJENDRA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2520030303 - P BHARGAVA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Text 2"/>
          <p:cNvSpPr/>
          <p:nvPr/>
        </p:nvSpPr>
        <p:spPr>
          <a:xfrm>
            <a:off x="658368" y="1508760"/>
            <a:ext cx="63093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the right courses is one of the most consequential — and confusing — decisions a student makes each term. Interests, prerequisite chains, career goals, and credit limits all pull in different directions, and most portals only offer a static, unsearchable list.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Course Recommendation System treats course discovery as an advanced-algorithms problem: fast text search over course catalogs, similarity-based matching of interests to courses, prerequisite-chain validation, and constrained selection under credit limits — all built from first principles, without relying on prebuilt library data structures.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60920" y="1371600"/>
            <a:ext cx="4206240" cy="4709160"/>
          </a:xfrm>
          <a:prstGeom prst="roundRect">
            <a:avLst>
              <a:gd name="adj" fmla="val 2609"/>
            </a:avLst>
          </a:prstGeom>
          <a:solidFill>
            <a:srgbClr val="F2F9F8"/>
          </a:solidFill>
          <a:effectLst>
            <a:outerShdw blurRad="101600" dist="38100" dir="5400000" algn="bl" rotWithShape="0">
              <a:srgbClr val="1B2E3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691640"/>
            <a:ext cx="3657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635240" y="2350008"/>
            <a:ext cx="3611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algorithm families applied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0" y="3108960"/>
            <a:ext cx="3657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35240" y="3767328"/>
            <a:ext cx="3611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custom-built — no built-in collection libraries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4526280"/>
            <a:ext cx="3657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635240" y="5184648"/>
            <a:ext cx="3611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engine: search, match, plan, schedule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Shape 2"/>
          <p:cNvSpPr/>
          <p:nvPr/>
        </p:nvSpPr>
        <p:spPr>
          <a:xfrm>
            <a:off x="640080" y="1508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594360" cy="5943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960120" y="18288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80136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Fragmented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709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search course catalogs by exact name only — a small typo or unfamiliar term returns nothing useful.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6629400" y="18288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180136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Invisible prerequisites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709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Prerequisite chains across semesters are rarely checked automatically, causing students to enroll in courses they aren't yet eligible for.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51960"/>
            <a:ext cx="594360" cy="5943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960120" y="425196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22452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true “fit” signal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892040"/>
            <a:ext cx="4709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portals cannot measure how closely a course actually matches a student's stated interests or past coursework.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51960"/>
            <a:ext cx="594360" cy="5943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6629400" y="425196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422452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Credit-constrained planning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92040"/>
            <a:ext cx="47091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Picking the best combination of courses within a fixed credit/time budget is a combinatorial optimization problem, not a simple filter.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student query is answered by the advanced-algorithm family best suited to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5" name="Shape 3"/>
          <p:cNvSpPr/>
          <p:nvPr/>
        </p:nvSpPr>
        <p:spPr>
          <a:xfrm>
            <a:off x="640080" y="1508760"/>
            <a:ext cx="3611880" cy="54864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6" name="Shape 4"/>
          <p:cNvSpPr/>
          <p:nvPr/>
        </p:nvSpPr>
        <p:spPr>
          <a:xfrm>
            <a:off x="896112" y="176479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Keyword &amp; Fuzzy 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86207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KMP, Rabin-Karp and Edit-Distance (Wagner-Fischer) locate courses instantly and tolerate misspelled queries.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11" name="Shape 9"/>
          <p:cNvSpPr/>
          <p:nvPr/>
        </p:nvSpPr>
        <p:spPr>
          <a:xfrm>
            <a:off x="4434840" y="1508760"/>
            <a:ext cx="3611880" cy="54864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2" name="Shape 10"/>
          <p:cNvSpPr/>
          <p:nvPr/>
        </p:nvSpPr>
        <p:spPr>
          <a:xfrm>
            <a:off x="4690872" y="176479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4690872" y="17647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0872" y="237744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Interest-Based Similarity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86207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Suffix-array / LCP-style matching scores how closely a course description aligns with a student's stated interests.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17" name="Shape 15"/>
          <p:cNvSpPr/>
          <p:nvPr/>
        </p:nvSpPr>
        <p:spPr>
          <a:xfrm>
            <a:off x="8229600" y="1508760"/>
            <a:ext cx="3611880" cy="54864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8" name="Shape 16"/>
          <p:cNvSpPr/>
          <p:nvPr/>
        </p:nvSpPr>
        <p:spPr>
          <a:xfrm>
            <a:off x="8485632" y="176479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8485632" y="17647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85632" y="237744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Prerequisite Flow 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85632" y="286207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Prerequisite chains are modeled as a flow network; Ford-Fulkerson / Edmonds-Karp verify a feasible path to any target course.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23" name="Shape 21"/>
          <p:cNvSpPr/>
          <p:nvPr/>
        </p:nvSpPr>
        <p:spPr>
          <a:xfrm>
            <a:off x="640080" y="4069080"/>
            <a:ext cx="361188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4" name="Shape 22"/>
          <p:cNvSpPr/>
          <p:nvPr/>
        </p:nvSpPr>
        <p:spPr>
          <a:xfrm>
            <a:off x="896112" y="432511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5" name="Text 23"/>
          <p:cNvSpPr/>
          <p:nvPr/>
        </p:nvSpPr>
        <p:spPr>
          <a:xfrm>
            <a:off x="896112" y="432511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493776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Optimal Plan Selection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542239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courses under a fixed credit budget is NP-hard (knapsack-like); bitmask DP and a 2-approximation heuristic return near-optimal plans.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29" name="Shape 27"/>
          <p:cNvSpPr/>
          <p:nvPr/>
        </p:nvSpPr>
        <p:spPr>
          <a:xfrm>
            <a:off x="4434840" y="4069080"/>
            <a:ext cx="361188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0" name="Shape 28"/>
          <p:cNvSpPr/>
          <p:nvPr/>
        </p:nvSpPr>
        <p:spPr>
          <a:xfrm>
            <a:off x="4690872" y="432511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1" name="Text 29"/>
          <p:cNvSpPr/>
          <p:nvPr/>
        </p:nvSpPr>
        <p:spPr>
          <a:xfrm>
            <a:off x="4690872" y="432511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90872" y="493776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 Ranked Recommendations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90872" y="542239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hashing and reservoir sampling rank and diversify top course suggestions in near-constant time.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0" y="40690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2F9F8"/>
          </a:solidFill>
        </p:spPr>
      </p:sp>
      <p:sp>
        <p:nvSpPr>
          <p:cNvPr id="35" name="Shape 33"/>
          <p:cNvSpPr/>
          <p:nvPr/>
        </p:nvSpPr>
        <p:spPr>
          <a:xfrm>
            <a:off x="8229600" y="4069080"/>
            <a:ext cx="361188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6" name="Shape 34"/>
          <p:cNvSpPr/>
          <p:nvPr/>
        </p:nvSpPr>
        <p:spPr>
          <a:xfrm>
            <a:off x="8485632" y="4325112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7" name="Text 35"/>
          <p:cNvSpPr/>
          <p:nvPr/>
        </p:nvSpPr>
        <p:spPr>
          <a:xfrm>
            <a:off x="8485632" y="432511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85632" y="4937760"/>
            <a:ext cx="3099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 Batch Processing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85632" y="5422392"/>
            <a:ext cx="309981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prefix-sum / reduce primitives let the engine re-rank an entire catalog as new interest data arrives.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822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1B2E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6" name="Text 4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563624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1563624"/>
            <a:ext cx="73609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(hand-built data structures &amp; algorithms — no java.util.* collections, per project constraint)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1B2E3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/>
          <p:nvPr/>
        </p:nvSpPr>
        <p:spPr>
          <a:xfrm>
            <a:off x="868680" y="257860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496312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496312"/>
            <a:ext cx="73609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KMP, Rabin-Karp, Wagner-Fischer DP, Ford-Fulkerson/Edmonds-Karp, bitmask DP, Miller-Rabin, reservoir sampling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1B2E3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511296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868680" y="351129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429000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3429000"/>
            <a:ext cx="73609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Flat-file / lightweight database of course records, prerequisites, and student interest profiles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1B2E3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43984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1" name="Text 19"/>
          <p:cNvSpPr/>
          <p:nvPr/>
        </p:nvSpPr>
        <p:spPr>
          <a:xfrm>
            <a:off x="868680" y="4443984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361688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4361688"/>
            <a:ext cx="73609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Swing or a lightweight web front-end (HTML/CSS/JS) for query input and recommendation display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239512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1B2E3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376672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6" name="Text 24"/>
          <p:cNvSpPr/>
          <p:nvPr/>
        </p:nvSpPr>
        <p:spPr>
          <a:xfrm>
            <a:off x="868680" y="53766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294376"/>
            <a:ext cx="22860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&amp; Tooling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77640" y="5294376"/>
            <a:ext cx="73609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JUnit for correctness testing; Git/GitHub for version control and team collaboration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16152"/>
            <a:ext cx="82296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Shape 2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5" name="Text 3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11096"/>
            <a:ext cx="9509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Instant, typo-tolerant course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13432"/>
            <a:ext cx="9509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the full catalog, in place of exact-match keyword lookup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685800" y="3017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62656"/>
            <a:ext cx="9509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Personalized, similarity-ranked recommendations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364992"/>
            <a:ext cx="9509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aligned to each student's interests and academic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14216"/>
            <a:ext cx="9509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prerequisite validation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416552"/>
            <a:ext cx="9509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students only see courses they are actually eligible to take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4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065776"/>
            <a:ext cx="9509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Near-optimal, credit-constrained course plans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468112"/>
            <a:ext cx="9509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in seconds via approximation and DP-based selection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172200"/>
            <a:ext cx="10881360" cy="0"/>
          </a:xfrm>
          <a:prstGeom prst="roundRect">
            <a:avLst/>
          </a:prstGeom>
          <a:noFill/>
        </p:spPr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3703</Words>
  <Application>WPS Presentation</Application>
  <PresentationFormat>On-screen Show (16:9)</PresentationFormat>
  <Paragraphs>168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Bhargava Rama Sastry Podila</cp:lastModifiedBy>
  <cp:revision>2</cp:revision>
  <dcterms:created xsi:type="dcterms:W3CDTF">2026-08-02T05:27:00Z</dcterms:created>
  <dcterms:modified xsi:type="dcterms:W3CDTF">2026-08-13T09:00:09Z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C1F2A8B3D77A4082B5C5A218FD0EA6F7_12</vt:lpwstr>
  </property>
  <property fmtid="{D5CDD505-2E9C-101B-9397-08002B2CF9AE}" pid="3" name="KSOProductBuildVer">
    <vt:lpwstr>1033-12.1.0.28032</vt:lpwstr>
  </property>
</Properties>
</file>