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005840"/>
            <a:ext cx="1097280" cy="731520"/>
          </a:xfrm>
          <a:prstGeom prst="line">
            <a:avLst/>
          </a:prstGeom>
          <a:noFill/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789920" y="1737360"/>
            <a:ext cx="640080" cy="-1005840"/>
          </a:xfrm>
          <a:prstGeom prst="line">
            <a:avLst/>
          </a:prstGeom>
          <a:noFill/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89920" y="1737360"/>
            <a:ext cx="-822960" cy="1005840"/>
          </a:xfrm>
          <a:prstGeom prst="line">
            <a:avLst/>
          </a:prstGeom>
          <a:noFill/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66960" y="2743200"/>
            <a:ext cx="1188720" cy="365760"/>
          </a:xfrm>
          <a:prstGeom prst="line">
            <a:avLst/>
          </a:prstGeom>
          <a:noFill/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2743200"/>
            <a:ext cx="457200" cy="1188720"/>
          </a:xfrm>
          <a:prstGeom prst="line">
            <a:avLst/>
          </a:prstGeom>
          <a:noFill/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55680" y="3108960"/>
            <a:ext cx="548640" cy="1554480"/>
          </a:xfrm>
          <a:prstGeom prst="line">
            <a:avLst/>
          </a:prstGeom>
          <a:noFill/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24160" y="3931920"/>
            <a:ext cx="-914400" cy="1005840"/>
          </a:xfrm>
          <a:prstGeom prst="line">
            <a:avLst/>
          </a:prstGeom>
          <a:noFill/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55680" y="3108960"/>
            <a:ext cx="-731520" cy="822960"/>
          </a:xfrm>
          <a:prstGeom prst="line">
            <a:avLst/>
          </a:prstGeom>
          <a:noFill/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19488" y="932688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Shape 9"/>
          <p:cNvSpPr/>
          <p:nvPr/>
        </p:nvSpPr>
        <p:spPr>
          <a:xfrm>
            <a:off x="10716768" y="1664208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56848" y="658368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Shape 11"/>
          <p:cNvSpPr/>
          <p:nvPr/>
        </p:nvSpPr>
        <p:spPr>
          <a:xfrm>
            <a:off x="9893808" y="2670048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82528" y="3035808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10351008" y="3858768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631168" y="4590288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7" name="Shape 15"/>
          <p:cNvSpPr/>
          <p:nvPr/>
        </p:nvSpPr>
        <p:spPr>
          <a:xfrm>
            <a:off x="9436608" y="4864608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1417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STRUCTURES AND ALGORITHMS – 3   |   25CS2103E   |   PBL PROJECT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1874520"/>
            <a:ext cx="87782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Recommendation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21792" y="37947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algorithm-driven engine that helps students search, match, and plan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based on interests, prerequisites, and career goals.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21792" y="4892040"/>
            <a:ext cx="457200" cy="3657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" y="5029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9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Algorithms Applied to Personalized Academic Guidance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82296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508760"/>
            <a:ext cx="63093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courses is one of the most consequential — and confusing — decisions a student makes each term. Interests, prerequisite chains, career goals, and credit limits all pull in different directions, and most portals only offer a static, unsearchable list.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Recommendation System treats course discovery as an advanced-algorithms problem: fast text search over course catalogs, similarity-based matching of interests to courses, prerequisite-chain validation, and constrained selection under credit limits — all built from first principles, without relying on prebuilt library data structures.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60920" y="1371600"/>
            <a:ext cx="4206240" cy="4709160"/>
          </a:xfrm>
          <a:prstGeom prst="roundRect">
            <a:avLst>
              <a:gd name="adj" fmla="val 2609"/>
            </a:avLst>
          </a:prstGeom>
          <a:solidFill>
            <a:srgbClr val="F2F9F8"/>
          </a:solidFill>
          <a:ln/>
          <a:effectLst>
            <a:outerShdw sx="100000" sy="100000" kx="0" ky="0" algn="bl" rotWithShape="0" blurRad="101600" dist="38100" dir="5400000">
              <a:srgbClr val="1B2E35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35240" y="169164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635240" y="235000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algorithm families applied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5240" y="310896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35240" y="376732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custom-built — no built-in collection libraries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35240" y="452628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635240" y="518464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engine: search, match, plan, schedule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82296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50876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E3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28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83080" y="18013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Fragmented discovery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search course catalogs by exact name only — a small typo or unfamiliar term returns nothing useful.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E35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828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52360" y="18013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Invisible prerequisites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9400" y="24688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 chains across semesters are rarely checked automatically, causing students to enroll in courses they aren't yet eligible for.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E35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2519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251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83080" y="42245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true “fit” signal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489204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portals cannot measure how closely a course actually matches a student's stated interests or past coursework.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93192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E35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42519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251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52360" y="42245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Credit-constrained planning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9400" y="489204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the best combination of courses within a fixed credit/time budget is a combinatorial optimization problem, not a simple filter.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Functionalities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student query is answered by the advanced-algorithm family best suited to 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F2F9F8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508760"/>
            <a:ext cx="361188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76479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764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3774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Keyword &amp; Fuzzy Search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2862072"/>
            <a:ext cx="3099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KMP, Rabin-Karp and Edit-Distance (Wagner-Fischer) locate courses instantly and tolerate misspelled queries.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50876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F2F9F8"/>
          </a:solidFill>
          <a:ln/>
        </p:spPr>
      </p:sp>
      <p:sp>
        <p:nvSpPr>
          <p:cNvPr id="11" name="Shape 9"/>
          <p:cNvSpPr/>
          <p:nvPr/>
        </p:nvSpPr>
        <p:spPr>
          <a:xfrm>
            <a:off x="4434840" y="1508760"/>
            <a:ext cx="361188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Shape 10"/>
          <p:cNvSpPr/>
          <p:nvPr/>
        </p:nvSpPr>
        <p:spPr>
          <a:xfrm>
            <a:off x="4690872" y="176479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1764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90872" y="23774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Interest-Based Similarity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90872" y="2862072"/>
            <a:ext cx="3099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Suffix-array / LCP-style matching scores how closely a course description aligns with a student's stated interests.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0" y="150876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F2F9F8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0" y="1508760"/>
            <a:ext cx="361188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Shape 16"/>
          <p:cNvSpPr/>
          <p:nvPr/>
        </p:nvSpPr>
        <p:spPr>
          <a:xfrm>
            <a:off x="8485632" y="176479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485632" y="1764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85632" y="23774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Prerequisite Flow Validation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85632" y="2862072"/>
            <a:ext cx="3099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 chains are modeled as a flow network; Ford-Fulkerson / Edmonds-Karp verify a feasible path to any target course.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0690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F2F9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" y="4069080"/>
            <a:ext cx="361188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4" name="Shape 22"/>
          <p:cNvSpPr/>
          <p:nvPr/>
        </p:nvSpPr>
        <p:spPr>
          <a:xfrm>
            <a:off x="896112" y="432511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5" name="Text 23"/>
          <p:cNvSpPr/>
          <p:nvPr/>
        </p:nvSpPr>
        <p:spPr>
          <a:xfrm>
            <a:off x="896112" y="4325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96112" y="493776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Optimal Plan Selection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96112" y="5422392"/>
            <a:ext cx="3099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courses under a fixed credit budget is NP-hard (knapsack-like); bitmask DP and a 2-approximation heuristic return near-optimal plans.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434840" y="40690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F2F9F8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4840" y="4069080"/>
            <a:ext cx="361188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0" name="Shape 28"/>
          <p:cNvSpPr/>
          <p:nvPr/>
        </p:nvSpPr>
        <p:spPr>
          <a:xfrm>
            <a:off x="4690872" y="432511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1" name="Text 29"/>
          <p:cNvSpPr/>
          <p:nvPr/>
        </p:nvSpPr>
        <p:spPr>
          <a:xfrm>
            <a:off x="4690872" y="4325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690872" y="493776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Ranked Recommendations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690872" y="5422392"/>
            <a:ext cx="3099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hashing and reservoir sampling rank and diversify top course suggestions in near-constant time.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29600" y="40690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F2F9F8"/>
          </a:solidFill>
          <a:ln/>
        </p:spPr>
      </p:sp>
      <p:sp>
        <p:nvSpPr>
          <p:cNvPr id="35" name="Shape 33"/>
          <p:cNvSpPr/>
          <p:nvPr/>
        </p:nvSpPr>
        <p:spPr>
          <a:xfrm>
            <a:off x="8229600" y="4069080"/>
            <a:ext cx="361188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6" name="Shape 34"/>
          <p:cNvSpPr/>
          <p:nvPr/>
        </p:nvSpPr>
        <p:spPr>
          <a:xfrm>
            <a:off x="8485632" y="432511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8485632" y="4325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8485632" y="493776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Scalable Batch Processing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485632" y="5422392"/>
            <a:ext cx="3099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prefix-sum / reduce primitives let the engine re-rank an entire catalog as new interest data arrives.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&amp; Technologies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82296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508760"/>
            <a:ext cx="108813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B2E3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4592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563624"/>
            <a:ext cx="22860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Engine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977640" y="1563624"/>
            <a:ext cx="7360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(hand-built data structures &amp; algorithms — no java.util.* collections, per project constraint)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41448"/>
            <a:ext cx="108813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B2E35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5786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00200" y="2496312"/>
            <a:ext cx="22860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77640" y="2496312"/>
            <a:ext cx="7360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KMP, Rabin-Karp, Wagner-Fischer DP, Ford-Fulkerson/Edmonds-Karp, bitmask DP, Miller-Rabin, reservoir sampling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374136"/>
            <a:ext cx="108813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B2E3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3511296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5112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429000"/>
            <a:ext cx="22860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Storage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77640" y="3429000"/>
            <a:ext cx="7360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Flat-file / lightweight database of course records, prerequisites, and student interest profiles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306824"/>
            <a:ext cx="108813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B2E35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8680" y="4443984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4439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00200" y="4361688"/>
            <a:ext cx="22860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977640" y="4361688"/>
            <a:ext cx="7360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Swing or a lightweight web front-end (HTML/CSS/JS) for query input and recommendation display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239512"/>
            <a:ext cx="108813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B2E35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600200" y="5294376"/>
            <a:ext cx="22860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Tooling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77640" y="5294376"/>
            <a:ext cx="7360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for correctness testing; Git/GitHub for version control and team collaboration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Outcome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216152"/>
            <a:ext cx="82296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96596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1911096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Instant, typo-tolerant course search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313432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C9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full catalog, in place of exact-match keyword lookup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0175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962656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Personalized, similarity-ranked recommendations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364992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C9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to each student's interests and academic history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406908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069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4014216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prerequisite validation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416552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C9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students only see courses they are actually eligible to take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5120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120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5065776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Near-optimal, credit-constrained course plans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5468112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C9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in seconds via approximation and DP-based selection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6172200"/>
            <a:ext cx="10881360" cy="0"/>
          </a:xfrm>
          <a:prstGeom prst="roundRect">
            <a:avLst/>
          </a:prstGeom>
          <a:noFill/>
          <a:ln/>
        </p:spPr>
      </p:sp>
      <p:sp>
        <p:nvSpPr>
          <p:cNvPr id="21" name="Text 19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2026-08-02T05:27:16Z</dcterms:created>
  <dcterms:modified xsi:type="dcterms:W3CDTF">2026-08-02T05:27:16Z</dcterms:modified>
</cp:coreProperties>
</file>