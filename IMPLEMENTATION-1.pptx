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4" r:id="rId5"/>
    <p:sldId id="258" r:id="rId6"/>
    <p:sldId id="261" r:id="rId7"/>
    <p:sldId id="265" r:id="rId8"/>
    <p:sldId id="259" r:id="rId9"/>
    <p:sldId id="267" r:id="rId10"/>
    <p:sldId id="266" r:id="rId11"/>
    <p:sldId id="260" r:id="rId12"/>
    <p:sldId id="262"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9541" y="1387370"/>
            <a:ext cx="9306071" cy="1581861"/>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COURSE RECOMMENDATION SYSTEM</a:t>
            </a:r>
            <a:endParaRPr lang="en-US" sz="4000" b="1" dirty="0">
              <a:solidFill>
                <a:srgbClr val="C00000"/>
              </a:solidFill>
              <a:latin typeface="+mn-lt"/>
            </a:endParaRPr>
          </a:p>
        </p:txBody>
      </p:sp>
      <p:sp>
        <p:nvSpPr>
          <p:cNvPr id="3" name="Subtitle 2"/>
          <p:cNvSpPr>
            <a:spLocks noGrp="1"/>
          </p:cNvSpPr>
          <p:nvPr>
            <p:ph type="subTitle" idx="1"/>
          </p:nvPr>
        </p:nvSpPr>
        <p:spPr>
          <a:xfrm>
            <a:off x="4052718" y="3104235"/>
            <a:ext cx="4551284" cy="1396014"/>
          </a:xfrm>
        </p:spPr>
        <p:txBody>
          <a:bodyPr/>
          <a:lstStyle/>
          <a:p>
            <a:r>
              <a:rPr lang="en-US" dirty="0">
                <a:solidFill>
                  <a:srgbClr val="0070C0"/>
                </a:solidFill>
              </a:rPr>
              <a:t>Team Members:</a:t>
            </a:r>
            <a:endParaRPr lang="en-US" dirty="0">
              <a:solidFill>
                <a:srgbClr val="0070C0"/>
              </a:solidFill>
            </a:endParaRPr>
          </a:p>
          <a:p>
            <a:r>
              <a:rPr lang="en-US" dirty="0">
                <a:solidFill>
                  <a:srgbClr val="0070C0"/>
                </a:solidFill>
              </a:rPr>
              <a:t>2520030164-M. DIJENDRA</a:t>
            </a:r>
            <a:endParaRPr lang="en-US" dirty="0">
              <a:solidFill>
                <a:srgbClr val="0070C0"/>
              </a:solidFill>
            </a:endParaRPr>
          </a:p>
          <a:p>
            <a:r>
              <a:rPr lang="en-US" dirty="0">
                <a:solidFill>
                  <a:srgbClr val="0070C0"/>
                </a:solidFill>
              </a:rPr>
              <a:t>2520030280-CH NRIPENDRA</a:t>
            </a:r>
            <a:endParaRPr lang="en-US" dirty="0">
              <a:solidFill>
                <a:srgbClr val="0070C0"/>
              </a:solidFill>
            </a:endParaRPr>
          </a:p>
          <a:p>
            <a:r>
              <a:rPr lang="en-US" dirty="0">
                <a:solidFill>
                  <a:srgbClr val="0070C0"/>
                </a:solidFill>
              </a:rPr>
              <a:t> 2520030303—P. BHARGAV</a:t>
            </a:r>
            <a:endParaRPr lang="en-US" dirty="0">
              <a:solidFill>
                <a:srgbClr val="0070C0"/>
              </a:solidFill>
            </a:endParaRP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 </a:t>
            </a:r>
            <a:r>
              <a:rPr lang="en-US" sz="1800" kern="0" dirty="0" err="1">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Dr.V.Sireesha</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endParaRPr lang="en-US" sz="3200" b="0" i="0" u="none" strike="noStrike" kern="1200" dirty="0">
              <a:solidFill>
                <a:srgbClr val="000000"/>
              </a:solidFill>
              <a:effectLst/>
              <a:latin typeface="Calibri" panose="020F0502020204030204" pitchFamily="34" charset="0"/>
            </a:endParaRP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endPar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endParaRPr lang="en-US" sz="32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endParaRPr lang="en-US" sz="3200" b="1" dirty="0">
              <a:solidFill>
                <a:schemeClr val="bg1"/>
              </a:solidFill>
            </a:endParaRPr>
          </a:p>
        </p:txBody>
      </p:sp>
      <p:sp>
        <p:nvSpPr>
          <p:cNvPr id="4" name="TextBox 3"/>
          <p:cNvSpPr txBox="1"/>
          <p:nvPr/>
        </p:nvSpPr>
        <p:spPr>
          <a:xfrm>
            <a:off x="2939415" y="970280"/>
            <a:ext cx="7879715" cy="4476115"/>
          </a:xfrm>
          <a:prstGeom prst="rect">
            <a:avLst/>
          </a:prstGeom>
          <a:noFill/>
        </p:spPr>
        <p:txBody>
          <a:bodyPr wrap="square" rtlCol="0">
            <a:noAutofit/>
          </a:bodyPr>
          <a:lstStyle/>
          <a:p>
            <a:r>
              <a:rPr lang="en-US" altLang="en-US" sz="1600" dirty="0"/>
              <a:t>The Course Recommendation System is an intelligent platform designed to help students identify and select suitable academic courses based on their interests, prerequisites, academic background, and career goals. Students often find it difficult to explore a large number of available courses and determine which ones are most relevant to their academic and professional objectives. The proposed system addresses this problem by providing efficient course searching, prerequisite checking, and personalized course recommendations.</a:t>
            </a:r>
            <a:endParaRPr lang="en-US" altLang="en-US" sz="1600" dirty="0"/>
          </a:p>
          <a:p>
            <a:r>
              <a:rPr lang="en-US" altLang="en-US" sz="1600" dirty="0"/>
              <a:t>The system incorporates advanced concepts from Data Structures and Algorithms-III, including String Algorithms, Dynamic Programming, Network Flow, Approximation Algorithms, and algorithmic complexity analysis. String matching techniques such as KMP, Z-Function, and Rabin-Karp can be used to efficiently search course names, descriptions, skills, and interest-based keywords. Dynamic Programming can be applied to optimize course recommendations by considering multiple factors such as prerequisites, student preferences, and career requirements. Network Flow and Bipartite Matching can support matching students with suitable courses while considering eligibility and available course capacity. </a:t>
            </a:r>
            <a:endParaRPr lang="en-US" altLang="en-US" sz="1600" dirty="0"/>
          </a:p>
          <a:p>
            <a:r>
              <a:rPr lang="en-US" altLang="en-US" sz="1600" dirty="0"/>
              <a:t>For complex recommendation and selection scenarios, approximation techniques can be considered to obtain practical solutions efficiently. The system therefore combines advanced algorithmic approaches to provide relevant, efficient, scalable, and personalized course recommendations, helping students make better-informed academic decisions</a:t>
            </a:r>
            <a:r>
              <a:rPr lang="en-US" altLang="en-US" sz="2000" dirty="0"/>
              <a:t>.</a:t>
            </a:r>
            <a:endParaRPr lang="en-US" alt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endParaRPr lang="en-US" sz="3200" b="1" dirty="0">
              <a:solidFill>
                <a:schemeClr val="bg1"/>
              </a:solidFill>
            </a:endParaRPr>
          </a:p>
        </p:txBody>
      </p:sp>
      <p:sp>
        <p:nvSpPr>
          <p:cNvPr id="4" name="TextBox 3"/>
          <p:cNvSpPr txBox="1"/>
          <p:nvPr/>
        </p:nvSpPr>
        <p:spPr>
          <a:xfrm>
            <a:off x="2763291" y="1538349"/>
            <a:ext cx="8224464" cy="3415030"/>
          </a:xfrm>
          <a:prstGeom prst="rect">
            <a:avLst/>
          </a:prstGeom>
          <a:noFill/>
        </p:spPr>
        <p:txBody>
          <a:bodyPr wrap="square" rtlCol="0">
            <a:spAutoFit/>
          </a:bodyPr>
          <a:lstStyle/>
          <a:p>
            <a:r>
              <a:rPr lang="en-US" altLang="en-US" dirty="0"/>
              <a:t>Students have access to a large number of academic courses, making it difficult to identify the most suitable courses for their goals.</a:t>
            </a:r>
            <a:endParaRPr lang="en-US" altLang="en-US" dirty="0"/>
          </a:p>
          <a:p>
            <a:endParaRPr lang="en-US" altLang="en-US" dirty="0"/>
          </a:p>
          <a:p>
            <a:r>
              <a:rPr lang="en-US" altLang="en-US" dirty="0"/>
              <a:t>The proposed system helps students:</a:t>
            </a:r>
            <a:endParaRPr lang="en-US" altLang="en-US" dirty="0"/>
          </a:p>
          <a:p>
            <a:endParaRPr lang="en-US" altLang="en-US" dirty="0"/>
          </a:p>
          <a:p>
            <a:r>
              <a:rPr lang="en-US" altLang="en-US" dirty="0"/>
              <a:t>Explore available courses</a:t>
            </a:r>
            <a:endParaRPr lang="en-US" altLang="en-US" dirty="0"/>
          </a:p>
          <a:p>
            <a:r>
              <a:rPr lang="en-US" altLang="en-US" dirty="0"/>
              <a:t>Search using keywords</a:t>
            </a:r>
            <a:endParaRPr lang="en-US" altLang="en-US" dirty="0"/>
          </a:p>
          <a:p>
            <a:r>
              <a:rPr lang="en-US" altLang="en-US" dirty="0"/>
              <a:t>Handle spelling mistakes</a:t>
            </a:r>
            <a:endParaRPr lang="en-US" altLang="en-US" dirty="0"/>
          </a:p>
          <a:p>
            <a:r>
              <a:rPr lang="en-US" altLang="en-US" dirty="0"/>
              <a:t>Check prerequisites</a:t>
            </a:r>
            <a:endParaRPr lang="en-US" altLang="en-US" dirty="0"/>
          </a:p>
          <a:p>
            <a:r>
              <a:rPr lang="en-US" altLang="en-US" dirty="0"/>
              <a:t>Select courses according to career goals</a:t>
            </a:r>
            <a:endParaRPr lang="en-US" altLang="en-US" dirty="0"/>
          </a:p>
          <a:p>
            <a:r>
              <a:rPr lang="en-US" altLang="en-US" dirty="0"/>
              <a:t>Generate an optimized learning path</a:t>
            </a:r>
            <a:endParaRPr lang="en-US" altLang="en-US" dirty="0"/>
          </a:p>
          <a:p>
            <a:r>
              <a:rPr lang="en-US" altLang="en-US" dirty="0"/>
              <a:t>Visual</a:t>
            </a: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endParaRPr lang="en-US" sz="3200" b="1" dirty="0">
              <a:solidFill>
                <a:schemeClr val="bg1"/>
              </a:solidFill>
            </a:endParaRPr>
          </a:p>
        </p:txBody>
      </p:sp>
      <p:sp>
        <p:nvSpPr>
          <p:cNvPr id="4" name="TextBox 3"/>
          <p:cNvSpPr txBox="1"/>
          <p:nvPr/>
        </p:nvSpPr>
        <p:spPr>
          <a:xfrm>
            <a:off x="3491118" y="1277140"/>
            <a:ext cx="5820834" cy="5077460"/>
          </a:xfrm>
          <a:prstGeom prst="rect">
            <a:avLst/>
          </a:prstGeom>
          <a:noFill/>
        </p:spPr>
        <p:txBody>
          <a:bodyPr wrap="square" rtlCol="0">
            <a:spAutoFit/>
          </a:bodyPr>
          <a:lstStyle/>
          <a:p>
            <a:r>
              <a:rPr lang="en-US" altLang="en-US" dirty="0"/>
              <a:t>Existing course recommendation approaches mainly focus on keyword-based searching and recommendation techniques to help students find relevant courses. Traditional keyword matching is simple and efficient but may fail when users enter partial queries or spelling mistakes. Advanced string-matching algorithms such as KMP, Z-Function, and Rabin-Karp provide efficient methods for identifying patterns within course titles, descriptions, and keywords. Fuzzy matching techniques based on Edit Distance can improve search by identifying courses that are similar to an incorrectly entered query. Recommendation systems can further personalize course selection by considering factors such as student interests, career goals, completed courses, prerequisites, and credit limits. Based on these approaches, our proposed system integrates pattern matching, fuzzy matching, prerequisite checking, and Dynamic Programming-based course selection to provide an efficient and personalized course recommendation platform.</a:t>
            </a: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endParaRPr lang="en-US" sz="3200" b="1" dirty="0">
              <a:solidFill>
                <a:schemeClr val="bg1"/>
              </a:solidFill>
            </a:endParaRPr>
          </a:p>
        </p:txBody>
      </p:sp>
      <p:sp>
        <p:nvSpPr>
          <p:cNvPr id="4" name="TextBox 3"/>
          <p:cNvSpPr txBox="1"/>
          <p:nvPr/>
        </p:nvSpPr>
        <p:spPr>
          <a:xfrm>
            <a:off x="3031716" y="1305341"/>
            <a:ext cx="8193640" cy="4799965"/>
          </a:xfrm>
          <a:prstGeom prst="rect">
            <a:avLst/>
          </a:prstGeom>
          <a:noFill/>
        </p:spPr>
        <p:txBody>
          <a:bodyPr wrap="square" rtlCol="0">
            <a:spAutoFit/>
          </a:bodyPr>
          <a:lstStyle/>
          <a:p>
            <a:r>
              <a:rPr lang="en-US" altLang="en-US" dirty="0"/>
              <a:t>PROBLEM STATEMENT</a:t>
            </a:r>
            <a:endParaRPr lang="en-US" altLang="en-US" dirty="0"/>
          </a:p>
          <a:p>
            <a:endParaRPr lang="en-US" altLang="en-US" dirty="0"/>
          </a:p>
          <a:p>
            <a:r>
              <a:rPr lang="en-US" altLang="en-US" dirty="0"/>
              <a:t>Students often struggle to select relevant courses from a large catalogue because they need to consider:</a:t>
            </a:r>
            <a:endParaRPr lang="en-US" altLang="en-US" dirty="0"/>
          </a:p>
          <a:p>
            <a:endParaRPr lang="en-US" altLang="en-US" dirty="0"/>
          </a:p>
          <a:p>
            <a:r>
              <a:rPr lang="en-US" altLang="en-US" dirty="0"/>
              <a:t>Interests</a:t>
            </a:r>
            <a:endParaRPr lang="en-US" altLang="en-US" dirty="0"/>
          </a:p>
          <a:p>
            <a:r>
              <a:rPr lang="en-US" altLang="en-US" dirty="0"/>
              <a:t>Prerequisites</a:t>
            </a:r>
            <a:endParaRPr lang="en-US" altLang="en-US" dirty="0"/>
          </a:p>
          <a:p>
            <a:r>
              <a:rPr lang="en-US" altLang="en-US" dirty="0"/>
              <a:t>Academic background</a:t>
            </a:r>
            <a:endParaRPr lang="en-US" altLang="en-US" dirty="0"/>
          </a:p>
          <a:p>
            <a:r>
              <a:rPr lang="en-US" altLang="en-US" dirty="0"/>
              <a:t>Career goals</a:t>
            </a:r>
            <a:endParaRPr lang="en-US" altLang="en-US" dirty="0"/>
          </a:p>
          <a:p>
            <a:r>
              <a:rPr lang="en-US" altLang="en-US" dirty="0"/>
              <a:t>Credit limitations</a:t>
            </a:r>
            <a:endParaRPr lang="en-US" altLang="en-US" dirty="0"/>
          </a:p>
          <a:p>
            <a:r>
              <a:rPr lang="en-US" altLang="en-US" dirty="0"/>
              <a:t>OBJECTIVES</a:t>
            </a:r>
            <a:endParaRPr lang="en-US" altLang="en-US" dirty="0"/>
          </a:p>
          <a:p>
            <a:r>
              <a:rPr lang="en-US" altLang="en-US" dirty="0"/>
              <a:t>Develop an efficient course search system</a:t>
            </a:r>
            <a:endParaRPr lang="en-US" altLang="en-US" dirty="0"/>
          </a:p>
          <a:p>
            <a:r>
              <a:rPr lang="en-US" altLang="en-US" dirty="0"/>
              <a:t>Implement advanced pattern matching</a:t>
            </a:r>
            <a:endParaRPr lang="en-US" altLang="en-US" dirty="0"/>
          </a:p>
          <a:p>
            <a:r>
              <a:rPr lang="en-US" altLang="en-US" dirty="0"/>
              <a:t>Handle spelling mistakes using fuzzy matching</a:t>
            </a:r>
            <a:endParaRPr lang="en-US" altLang="en-US" dirty="0"/>
          </a:p>
          <a:p>
            <a:r>
              <a:rPr lang="en-US" altLang="en-US" dirty="0"/>
              <a:t>Validate prerequisites</a:t>
            </a:r>
            <a:endParaRPr lang="en-US" altLang="en-US" dirty="0"/>
          </a:p>
          <a:p>
            <a:r>
              <a:rPr lang="en-US" altLang="en-US" dirty="0"/>
              <a:t>Generate personalized recommendations</a:t>
            </a:r>
            <a:endParaRPr lang="en-US" altLang="en-US" dirty="0"/>
          </a:p>
          <a:p>
            <a:r>
              <a:rPr lang="en-US" altLang="en-US" dirty="0"/>
              <a:t>Optimize course selection using Dynamic Programming</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endParaRPr lang="en-US" sz="3200" b="1" dirty="0">
              <a:solidFill>
                <a:schemeClr val="bg1"/>
              </a:solidFill>
            </a:endParaRPr>
          </a:p>
        </p:txBody>
      </p:sp>
      <p:sp>
        <p:nvSpPr>
          <p:cNvPr id="5" name="Text Box 4"/>
          <p:cNvSpPr txBox="1"/>
          <p:nvPr/>
        </p:nvSpPr>
        <p:spPr>
          <a:xfrm>
            <a:off x="3549015" y="778510"/>
            <a:ext cx="6096000" cy="5908040"/>
          </a:xfrm>
          <a:prstGeom prst="rect">
            <a:avLst/>
          </a:prstGeom>
          <a:noFill/>
        </p:spPr>
        <p:txBody>
          <a:bodyPr wrap="square" rtlCol="0" anchor="t">
            <a:spAutoFit/>
          </a:bodyPr>
          <a:p>
            <a:r>
              <a:rPr lang="en-US" altLang="en-US"/>
              <a:t>             STUDENT</a:t>
            </a:r>
            <a:endParaRPr lang="en-US" altLang="en-US"/>
          </a:p>
          <a:p>
            <a:r>
              <a:rPr lang="en-US" altLang="en-US"/>
              <a:t>                 │</a:t>
            </a:r>
            <a:endParaRPr lang="en-US" altLang="en-US"/>
          </a:p>
          <a:p>
            <a:r>
              <a:rPr lang="en-US" altLang="en-US"/>
              <a:t>                 ▼</a:t>
            </a:r>
            <a:endParaRPr lang="en-US" altLang="en-US"/>
          </a:p>
          <a:p>
            <a:r>
              <a:rPr lang="en-US" altLang="en-US"/>
              <a:t>        COURSE RECOMMENDATION</a:t>
            </a:r>
            <a:endParaRPr lang="en-US" altLang="en-US"/>
          </a:p>
          <a:p>
            <a:r>
              <a:rPr lang="en-US" altLang="en-US"/>
              <a:t>             WEBSITE</a:t>
            </a:r>
            <a:endParaRPr lang="en-US" altLang="en-US"/>
          </a:p>
          <a:p>
            <a:r>
              <a:rPr lang="en-US" altLang="en-US"/>
              <a:t>                 │</a:t>
            </a:r>
            <a:endParaRPr lang="en-US" altLang="en-US"/>
          </a:p>
          <a:p>
            <a:r>
              <a:rPr lang="en-US" altLang="en-US"/>
              <a:t>       ┌─────────┴─────────┐</a:t>
            </a:r>
            <a:endParaRPr lang="en-US" altLang="en-US"/>
          </a:p>
          <a:p>
            <a:r>
              <a:rPr lang="en-US" altLang="en-US"/>
              <a:t>       │                   │</a:t>
            </a:r>
            <a:endParaRPr lang="en-US" altLang="en-US"/>
          </a:p>
          <a:p>
            <a:r>
              <a:rPr lang="en-US" altLang="en-US"/>
              <a:t>       ▼                   ▼</a:t>
            </a:r>
            <a:endParaRPr lang="en-US" altLang="en-US"/>
          </a:p>
          <a:p>
            <a:r>
              <a:rPr lang="en-US" altLang="en-US"/>
              <a:t> Explore Courses      Learning Path</a:t>
            </a:r>
            <a:endParaRPr lang="en-US" altLang="en-US"/>
          </a:p>
          <a:p>
            <a:r>
              <a:rPr lang="en-US" altLang="en-US"/>
              <a:t>       │                   │</a:t>
            </a:r>
            <a:endParaRPr lang="en-US" altLang="en-US"/>
          </a:p>
          <a:p>
            <a:r>
              <a:rPr lang="en-US" altLang="en-US"/>
              <a:t>       ▼                   ▼</a:t>
            </a:r>
            <a:endParaRPr lang="en-US" altLang="en-US"/>
          </a:p>
          <a:p>
            <a:r>
              <a:rPr lang="en-US" altLang="en-US"/>
              <a:t> Pattern/Fuzzy       Prerequisite</a:t>
            </a:r>
            <a:endParaRPr lang="en-US" altLang="en-US"/>
          </a:p>
          <a:p>
            <a:r>
              <a:rPr lang="en-US" altLang="en-US"/>
              <a:t> Matching             Checking</a:t>
            </a:r>
            <a:endParaRPr lang="en-US" altLang="en-US"/>
          </a:p>
          <a:p>
            <a:r>
              <a:rPr lang="en-US" altLang="en-US"/>
              <a:t>       │                   │</a:t>
            </a:r>
            <a:endParaRPr lang="en-US" altLang="en-US"/>
          </a:p>
          <a:p>
            <a:r>
              <a:rPr lang="en-US" altLang="en-US"/>
              <a:t>       └─────────┬─────────┘</a:t>
            </a:r>
            <a:endParaRPr lang="en-US" altLang="en-US"/>
          </a:p>
          <a:p>
            <a:r>
              <a:rPr lang="en-US" altLang="en-US"/>
              <a:t>                 ▼</a:t>
            </a:r>
            <a:endParaRPr lang="en-US" altLang="en-US"/>
          </a:p>
          <a:p>
            <a:r>
              <a:rPr lang="en-US" altLang="en-US"/>
              <a:t>        Recommendation Engine</a:t>
            </a:r>
            <a:endParaRPr lang="en-US" altLang="en-US"/>
          </a:p>
          <a:p>
            <a:r>
              <a:rPr lang="en-US" altLang="en-US"/>
              <a:t>                 │</a:t>
            </a:r>
            <a:endParaRPr lang="en-US" altLang="en-US"/>
          </a:p>
          <a:p>
            <a:r>
              <a:rPr lang="en-US" altLang="en-US"/>
              <a:t>                 ▼</a:t>
            </a:r>
            <a:endParaRPr lang="en-US" altLang="en-US"/>
          </a:p>
          <a:p>
            <a:r>
              <a:rPr lang="en-US" altLang="en-US"/>
              <a:t>         Personalized Courses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p:cNvSpPr txBox="1"/>
          <p:nvPr/>
        </p:nvSpPr>
        <p:spPr>
          <a:xfrm>
            <a:off x="3148982" y="598575"/>
            <a:ext cx="7484722" cy="6000750"/>
          </a:xfrm>
          <a:prstGeom prst="rect">
            <a:avLst/>
          </a:prstGeom>
          <a:noFill/>
        </p:spPr>
        <p:txBody>
          <a:bodyPr wrap="square" rtlCol="0">
            <a:spAutoFit/>
          </a:bodyPr>
          <a:lstStyle/>
          <a:p>
            <a:r>
              <a:rPr lang="en-US" altLang="en-US" sz="2400" dirty="0"/>
              <a:t>The developed Course Recommendation System successfully integrates efficient course searching with personalized course discovery. The Explore Courses module provides pattern-based searching using KMP, Z-Function, and Rabin-Karp, allowing users to find relevant courses based on course titles, descriptions, tags, and keywords. When users enter misspelled or approximate queries, the fuzzy matching module uses Wagner-Fischer Edit Distance and token similarity to identify the closest relevant courses. The system also checks course prerequisites before recommending courses and uses Dynamic Programming with the 0/1 Knapsack approach to select suitable courses within the student's credit limit. Overall, the system provides relevant search results and generates a personalized learning path based on the student's requirements.</a:t>
            </a:r>
            <a:endParaRPr lang="en-US"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p:cNvSpPr txBox="1"/>
          <p:nvPr/>
        </p:nvSpPr>
        <p:spPr>
          <a:xfrm>
            <a:off x="3299368" y="1213923"/>
            <a:ext cx="7592601" cy="5077460"/>
          </a:xfrm>
          <a:prstGeom prst="rect">
            <a:avLst/>
          </a:prstGeom>
          <a:noFill/>
        </p:spPr>
        <p:txBody>
          <a:bodyPr wrap="square" rtlCol="0">
            <a:spAutoFit/>
          </a:bodyPr>
          <a:lstStyle/>
          <a:p>
            <a:r>
              <a:rPr lang="en-US" altLang="en-US" dirty="0"/>
              <a:t>Hardware:</a:t>
            </a:r>
            <a:endParaRPr lang="en-US" altLang="en-US" dirty="0"/>
          </a:p>
          <a:p>
            <a:endParaRPr lang="en-US" altLang="en-US" dirty="0"/>
          </a:p>
          <a:p>
            <a:r>
              <a:rPr lang="en-US" altLang="en-US" dirty="0"/>
              <a:t>Laptop/Desktop</a:t>
            </a:r>
            <a:endParaRPr lang="en-US" altLang="en-US" dirty="0"/>
          </a:p>
          <a:p>
            <a:r>
              <a:rPr lang="en-US" altLang="en-US" dirty="0"/>
              <a:t>4 GB RAM or above</a:t>
            </a:r>
            <a:endParaRPr lang="en-US" altLang="en-US" dirty="0"/>
          </a:p>
          <a:p>
            <a:r>
              <a:rPr lang="en-US" altLang="en-US" dirty="0"/>
              <a:t>Modern processor</a:t>
            </a:r>
            <a:endParaRPr lang="en-US" altLang="en-US" dirty="0"/>
          </a:p>
          <a:p>
            <a:r>
              <a:rPr lang="en-US" altLang="en-US" dirty="0"/>
              <a:t>Sufficient storage</a:t>
            </a:r>
            <a:endParaRPr lang="en-US" altLang="en-US" dirty="0"/>
          </a:p>
          <a:p>
            <a:r>
              <a:rPr lang="en-US" altLang="en-US" dirty="0"/>
              <a:t>Internet connection</a:t>
            </a:r>
            <a:endParaRPr lang="en-US" altLang="en-US" dirty="0"/>
          </a:p>
          <a:p>
            <a:endParaRPr lang="en-US" altLang="en-US" dirty="0"/>
          </a:p>
          <a:p>
            <a:r>
              <a:rPr lang="en-US" altLang="en-US" dirty="0"/>
              <a:t>Software:</a:t>
            </a:r>
            <a:endParaRPr lang="en-US" altLang="en-US" dirty="0"/>
          </a:p>
          <a:p>
            <a:endParaRPr lang="en-US" altLang="en-US" dirty="0"/>
          </a:p>
          <a:p>
            <a:r>
              <a:rPr lang="en-US" altLang="en-US" dirty="0"/>
              <a:t>Windows / Linux / macOS</a:t>
            </a:r>
            <a:endParaRPr lang="en-US" altLang="en-US" dirty="0"/>
          </a:p>
          <a:p>
            <a:r>
              <a:rPr lang="en-US" altLang="en-US" dirty="0"/>
              <a:t>Node.js + npm</a:t>
            </a:r>
            <a:endParaRPr lang="en-US" altLang="en-US" dirty="0"/>
          </a:p>
          <a:p>
            <a:r>
              <a:rPr lang="en-US" altLang="en-US" dirty="0"/>
              <a:t>HTML5, CSS3, JavaScript</a:t>
            </a:r>
            <a:endParaRPr lang="en-US" altLang="en-US" dirty="0"/>
          </a:p>
          <a:p>
            <a:r>
              <a:rPr lang="en-US" altLang="en-US" dirty="0"/>
              <a:t>Node.js + Express</a:t>
            </a:r>
            <a:endParaRPr lang="en-US" altLang="en-US" dirty="0"/>
          </a:p>
          <a:p>
            <a:r>
              <a:rPr lang="en-US" altLang="en-US" dirty="0"/>
              <a:t>Modern Web Browser</a:t>
            </a:r>
            <a:endParaRPr lang="en-US" altLang="en-US" dirty="0"/>
          </a:p>
          <a:p>
            <a:r>
              <a:rPr lang="en-US" altLang="en-US" dirty="0"/>
              <a:t>Visual Studio Code</a:t>
            </a:r>
            <a:endParaRPr lang="en-US" altLang="en-US" dirty="0"/>
          </a:p>
          <a:p>
            <a:r>
              <a:rPr lang="en-US" altLang="en-US" dirty="0"/>
              <a:t>JSON Course Dataset</a:t>
            </a:r>
            <a:endParaRPr lang="en-US" altLang="en-US" dirty="0"/>
          </a:p>
          <a:p>
            <a:r>
              <a:rPr lang="en-US" altLang="en-US" dirty="0"/>
              <a:t>REST API</a:t>
            </a: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endParaRPr lang="en-US" sz="3200" b="1" dirty="0">
              <a:solidFill>
                <a:schemeClr val="bg1"/>
              </a:solidFill>
            </a:endParaRPr>
          </a:p>
        </p:txBody>
      </p:sp>
      <p:sp>
        <p:nvSpPr>
          <p:cNvPr id="4" name="TextBox 3"/>
          <p:cNvSpPr txBox="1"/>
          <p:nvPr/>
        </p:nvSpPr>
        <p:spPr>
          <a:xfrm>
            <a:off x="3401061" y="1293914"/>
            <a:ext cx="6461396" cy="5631180"/>
          </a:xfrm>
          <a:prstGeom prst="rect">
            <a:avLst/>
          </a:prstGeom>
          <a:noFill/>
        </p:spPr>
        <p:txBody>
          <a:bodyPr wrap="square" rtlCol="0">
            <a:spAutoFit/>
          </a:bodyPr>
          <a:lstStyle/>
          <a:p>
            <a:r>
              <a:rPr lang="en-US" altLang="en-US" sz="2400" dirty="0"/>
              <a:t>The Course Recommendation System integrates DSA-III concepts into a practical academic platform.</a:t>
            </a:r>
            <a:endParaRPr lang="en-US" altLang="en-US" sz="2400" dirty="0"/>
          </a:p>
          <a:p>
            <a:endParaRPr lang="en-US" altLang="en-US" sz="2400" dirty="0"/>
          </a:p>
          <a:p>
            <a:r>
              <a:rPr lang="en-US" altLang="en-US" sz="2400" dirty="0"/>
              <a:t>The system provides:</a:t>
            </a:r>
            <a:endParaRPr lang="en-US" altLang="en-US" sz="2400" dirty="0"/>
          </a:p>
          <a:p>
            <a:endParaRPr lang="en-US" altLang="en-US" sz="2400" dirty="0"/>
          </a:p>
          <a:p>
            <a:r>
              <a:rPr lang="en-US" altLang="en-US" sz="2400" dirty="0"/>
              <a:t>Efficient course search</a:t>
            </a:r>
            <a:endParaRPr lang="en-US" altLang="en-US" sz="2400" dirty="0"/>
          </a:p>
          <a:p>
            <a:r>
              <a:rPr lang="en-US" altLang="en-US" sz="2400" dirty="0"/>
              <a:t>Pattern matching</a:t>
            </a:r>
            <a:endParaRPr lang="en-US" altLang="en-US" sz="2400" dirty="0"/>
          </a:p>
          <a:p>
            <a:r>
              <a:rPr lang="en-US" altLang="en-US" sz="2400" dirty="0"/>
              <a:t>Fuzzy matching</a:t>
            </a:r>
            <a:endParaRPr lang="en-US" altLang="en-US" sz="2400" dirty="0"/>
          </a:p>
          <a:p>
            <a:r>
              <a:rPr lang="en-US" altLang="en-US" sz="2400" dirty="0"/>
              <a:t>Prerequisite validation</a:t>
            </a:r>
            <a:endParaRPr lang="en-US" altLang="en-US" sz="2400" dirty="0"/>
          </a:p>
          <a:p>
            <a:r>
              <a:rPr lang="en-US" altLang="en-US" sz="2400" dirty="0"/>
              <a:t>Personalized recommendations</a:t>
            </a:r>
            <a:endParaRPr lang="en-US" altLang="en-US" sz="2400" dirty="0"/>
          </a:p>
          <a:p>
            <a:r>
              <a:rPr lang="en-US" altLang="en-US" sz="2400" dirty="0"/>
              <a:t>Credit-constrained course selection</a:t>
            </a:r>
            <a:endParaRPr lang="en-US" altLang="en-US" sz="2400" dirty="0"/>
          </a:p>
          <a:p>
            <a:endParaRPr lang="en-US" altLang="en-US" sz="2400" dirty="0"/>
          </a:p>
          <a:p>
            <a:r>
              <a:rPr lang="en-US" altLang="en-US" sz="2400" dirty="0"/>
              <a:t>The combination of these techniques helps students discover relevant courses and build a more suitable learning path.</a:t>
            </a:r>
            <a:endParaRPr lang="en-US"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endParaRPr lang="en-US" sz="3200" b="1" dirty="0">
              <a:solidFill>
                <a:schemeClr val="bg1"/>
              </a:solidFill>
            </a:endParaRPr>
          </a:p>
        </p:txBody>
      </p:sp>
      <p:sp>
        <p:nvSpPr>
          <p:cNvPr id="2" name="TextBox 1"/>
          <p:cNvSpPr txBox="1"/>
          <p:nvPr/>
        </p:nvSpPr>
        <p:spPr>
          <a:xfrm>
            <a:off x="3456101" y="1180582"/>
            <a:ext cx="6760919" cy="4892675"/>
          </a:xfrm>
          <a:prstGeom prst="rect">
            <a:avLst/>
          </a:prstGeom>
          <a:noFill/>
        </p:spPr>
        <p:txBody>
          <a:bodyPr wrap="square" rtlCol="0">
            <a:spAutoFit/>
          </a:bodyPr>
          <a:lstStyle/>
          <a:p>
            <a:r>
              <a:rPr lang="en-US" altLang="en-US" sz="2400" dirty="0"/>
              <a:t>These are appropriate future extensions, especially because your abstract mentions them as possible advanced approaches:</a:t>
            </a:r>
            <a:endParaRPr lang="en-US" altLang="en-US" sz="2400" dirty="0"/>
          </a:p>
          <a:p>
            <a:endParaRPr lang="en-US" altLang="en-US" sz="2400" dirty="0"/>
          </a:p>
          <a:p>
            <a:r>
              <a:rPr lang="en-US" altLang="en-US" sz="2400" dirty="0"/>
              <a:t>Network Flow for student-course allocation</a:t>
            </a:r>
            <a:endParaRPr lang="en-US" altLang="en-US" sz="2400" dirty="0"/>
          </a:p>
          <a:p>
            <a:r>
              <a:rPr lang="en-US" altLang="en-US" sz="2400" dirty="0"/>
              <a:t>Bipartite Matching for student-course matching</a:t>
            </a:r>
            <a:endParaRPr lang="en-US" altLang="en-US" sz="2400" dirty="0"/>
          </a:p>
          <a:p>
            <a:r>
              <a:rPr lang="en-US" altLang="en-US" sz="2400" dirty="0"/>
              <a:t>Larger course database</a:t>
            </a:r>
            <a:endParaRPr lang="en-US" altLang="en-US" sz="2400" dirty="0"/>
          </a:p>
          <a:p>
            <a:r>
              <a:rPr lang="en-US" altLang="en-US" sz="2400" dirty="0"/>
              <a:t>More advanced recommendation factors</a:t>
            </a:r>
            <a:endParaRPr lang="en-US" altLang="en-US" sz="2400" dirty="0"/>
          </a:p>
          <a:p>
            <a:r>
              <a:rPr lang="en-US" altLang="en-US" sz="2400" dirty="0"/>
              <a:t>Student profile database</a:t>
            </a:r>
            <a:endParaRPr lang="en-US" altLang="en-US" sz="2400" dirty="0"/>
          </a:p>
          <a:p>
            <a:r>
              <a:rPr lang="en-US" altLang="en-US" sz="2400" dirty="0"/>
              <a:t>Improved learning-path optimization</a:t>
            </a:r>
            <a:endParaRPr lang="en-US" altLang="en-US" sz="2400" dirty="0"/>
          </a:p>
          <a:p>
            <a:r>
              <a:rPr lang="en-US" altLang="en-US" sz="2400" dirty="0"/>
              <a:t>Course capacity management</a:t>
            </a:r>
            <a:endParaRPr lang="en-US" altLang="en-US" sz="2400" dirty="0"/>
          </a:p>
          <a:p>
            <a:r>
              <a:rPr lang="en-US" altLang="en-US" sz="2400" dirty="0"/>
              <a:t>Advanced similarity techniques</a:t>
            </a:r>
            <a:endParaRPr lang="en-US" altLang="en-US" sz="2400" dirty="0"/>
          </a:p>
          <a:p>
            <a:r>
              <a:rPr lang="en-US" altLang="en-US" sz="2400" dirty="0"/>
              <a:t>Analytics dashboard</a:t>
            </a:r>
            <a:endParaRPr lang="en-US"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endParaRPr lang="en-US" sz="32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6213</Words>
  <Application>WPS Presentation</Application>
  <PresentationFormat>Widescreen</PresentationFormat>
  <Paragraphs>146</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SimSun</vt:lpstr>
      <vt:lpstr>Wingdings</vt:lpstr>
      <vt:lpstr>Times New Roman</vt:lpstr>
      <vt:lpstr>Gautami</vt:lpstr>
      <vt:lpstr>Segoe UI Symbol</vt:lpstr>
      <vt:lpstr>Calibri</vt:lpstr>
      <vt:lpstr>Microsoft YaHei</vt:lpstr>
      <vt:lpstr>Arial Unicode MS</vt:lpstr>
      <vt:lpstr>Calibri Light</vt:lpstr>
      <vt:lpstr>Office Theme</vt:lpstr>
      <vt:lpstr>       Data Structures and Algorithms -3 (25CS2103E)  News Explorer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Bhargava Rama Sastry Podila</cp:lastModifiedBy>
  <cp:revision>24</cp:revision>
  <dcterms:created xsi:type="dcterms:W3CDTF">2024-08-29T05:25:00Z</dcterms:created>
  <dcterms:modified xsi:type="dcterms:W3CDTF">2026-08-27T10:03:43Z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1033-12.1.0.28032</vt:lpwstr>
  </property>
</Properties>
</file>